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Esiti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BC4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1DF-46A1-8F5F-59ECEE77142B}"/>
              </c:ext>
            </c:extLst>
          </c:dPt>
          <c:dPt>
            <c:idx val="1"/>
            <c:bubble3D val="0"/>
            <c:spPr>
              <a:solidFill>
                <a:srgbClr val="E0A9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DF-46A1-8F5F-59ECEE77142B}"/>
              </c:ext>
            </c:extLst>
          </c:dPt>
          <c:dPt>
            <c:idx val="2"/>
            <c:bubble3D val="0"/>
            <c:spPr>
              <a:solidFill>
                <a:srgbClr val="D260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DF-46A1-8F5F-59ECEE77142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1DF-46A1-8F5F-59ECEE77142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1DF-46A1-8F5F-59ECEE77142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1DF-46A1-8F5F-59ECEE77142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Vittorie</c:v>
                </c:pt>
                <c:pt idx="1">
                  <c:v>Pareggi</c:v>
                </c:pt>
                <c:pt idx="2">
                  <c:v>Sconfitte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43.6</c:v>
                </c:pt>
                <c:pt idx="1">
                  <c:v>8.4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1DF-46A1-8F5F-59ECEE7714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solidFill>
          <a:srgbClr val="0F2C46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9F2F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2C4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563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4206240"/>
            <a:ext cx="6858000" cy="4754880"/>
          </a:xfrm>
          <a:prstGeom prst="ellipse">
            <a:avLst/>
          </a:prstGeom>
          <a:solidFill>
            <a:srgbClr val="0C7A4F">
              <a:alpha val="22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241280" y="-1280160"/>
            <a:ext cx="3840480" cy="3840480"/>
          </a:xfrm>
          <a:prstGeom prst="ellipse">
            <a:avLst/>
          </a:prstGeom>
          <a:solidFill>
            <a:srgbClr val="2BC48A">
              <a:alpha val="1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 rot="-480000">
            <a:off x="8641080" y="187452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F6F8FB"/>
          </a:solidFill>
          <a:ln w="12700">
            <a:solidFill>
              <a:srgbClr val="C7D2DD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 rot="-480000">
            <a:off x="8650948" y="1998248"/>
            <a:ext cx="80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-480000">
            <a:off x="8641080" y="26060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♠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 rot="420000">
            <a:off x="9784080" y="214884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F6F8FB"/>
          </a:solidFill>
          <a:ln w="12700">
            <a:solidFill>
              <a:srgbClr val="C7D2DD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 rot="420000">
            <a:off x="10031277" y="2214349"/>
            <a:ext cx="6254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420000">
            <a:off x="9784080" y="2880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♥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9098280" y="4160520"/>
            <a:ext cx="1051560" cy="1051560"/>
          </a:xfrm>
          <a:prstGeom prst="ellipse">
            <a:avLst/>
          </a:prstGeom>
          <a:solidFill>
            <a:srgbClr val="2BC48A"/>
          </a:solidFill>
          <a:ln w="25400">
            <a:solidFill>
              <a:srgbClr val="FFFFFF"/>
            </a:solidFill>
            <a:prstDash val="dash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9098280" y="41605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AMBIENTE GYMNASIUM  ·  COMPUTER VISION  ·  REINFORCEMENT LEARNING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18745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Blackjack Gymnasium</a:t>
            </a:r>
            <a:endParaRPr lang="en-US" sz="47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</a:t>
            </a:r>
            <a:endParaRPr lang="en-US" sz="4700" dirty="0"/>
          </a:p>
        </p:txBody>
      </p:sp>
      <p:sp>
        <p:nvSpPr>
          <p:cNvPr id="14" name="Text 12"/>
          <p:cNvSpPr/>
          <p:nvPr/>
        </p:nvSpPr>
        <p:spPr>
          <a:xfrm>
            <a:off x="777240" y="3611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di Computer Vision e Reinforcement Learning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77240" y="4892040"/>
            <a:ext cx="960120" cy="411480"/>
          </a:xfrm>
          <a:prstGeom prst="roundRect">
            <a:avLst>
              <a:gd name="adj" fmla="val 48889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77240" y="48920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901952" y="4892040"/>
            <a:ext cx="1248156" cy="411480"/>
          </a:xfrm>
          <a:prstGeom prst="roundRect">
            <a:avLst>
              <a:gd name="adj" fmla="val 48889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901952" y="4892040"/>
            <a:ext cx="1248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14700" y="4892040"/>
            <a:ext cx="960120" cy="411480"/>
          </a:xfrm>
          <a:prstGeom prst="roundRect">
            <a:avLst>
              <a:gd name="adj" fmla="val 48889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314700" y="48920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39412" y="4892040"/>
            <a:ext cx="2112264" cy="411480"/>
          </a:xfrm>
          <a:prstGeom prst="roundRect">
            <a:avLst>
              <a:gd name="adj" fmla="val 48889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439412" y="489204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KNN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16268" y="4892040"/>
            <a:ext cx="1344168" cy="411480"/>
          </a:xfrm>
          <a:prstGeom prst="roundRect">
            <a:avLst>
              <a:gd name="adj" fmla="val 48889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716268" y="489204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5028" y="4892040"/>
            <a:ext cx="960120" cy="411480"/>
          </a:xfrm>
          <a:prstGeom prst="roundRect">
            <a:avLst>
              <a:gd name="adj" fmla="val 48889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225028" y="48920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Dal tavolo reale alla decisione automatica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realizza un </a:t>
            </a: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Gymnasium completo per il Blackjack</a:t>
            </a:r>
            <a:r>
              <a:rPr lang="en-US" sz="15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conforme allo standard del Reinforcement Learning, ma esteso con due capacità di intelligenza artificiale: la </a:t>
            </a:r>
            <a:r>
              <a:rPr lang="en-US" sz="1550" b="1" dirty="0">
                <a:solidFill>
                  <a:srgbClr val="46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percezione visiva</a:t>
            </a:r>
            <a:r>
              <a:rPr lang="en-US" sz="15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carte reali e un </a:t>
            </a:r>
            <a:r>
              <a:rPr lang="en-US" sz="1550" b="1" dirty="0">
                <a:solidFill>
                  <a:srgbClr val="2B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decisionale</a:t>
            </a:r>
            <a:r>
              <a:rPr lang="en-US" sz="15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 suggerisce la mossa ottimale.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542032" cy="1097280"/>
          </a:xfrm>
          <a:prstGeom prst="roundRect">
            <a:avLst>
              <a:gd name="adj" fmla="val 8333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" y="2898648"/>
            <a:ext cx="402336" cy="402336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" y="2898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2880360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Tavolo reale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333756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/ foto delle carte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62300" y="30175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6A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35096" y="2697480"/>
            <a:ext cx="2542032" cy="1097280"/>
          </a:xfrm>
          <a:prstGeom prst="roundRect">
            <a:avLst>
              <a:gd name="adj" fmla="val 8333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636264" y="2898648"/>
            <a:ext cx="402336" cy="402336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636264" y="2898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48328" y="2880360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4552" y="333756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KNN → label carte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57316" y="30175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6A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30112" y="2697480"/>
            <a:ext cx="2542032" cy="1097280"/>
          </a:xfrm>
          <a:prstGeom prst="roundRect">
            <a:avLst>
              <a:gd name="adj" fmla="val 8333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6431280" y="2898648"/>
            <a:ext cx="402336" cy="402336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431280" y="2898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3344" y="2880360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Stato di gioco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9568" y="333756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Environment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52332" y="30175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25128" y="2697480"/>
            <a:ext cx="2542032" cy="1097280"/>
          </a:xfrm>
          <a:prstGeom prst="roundRect">
            <a:avLst>
              <a:gd name="adj" fmla="val 8333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9226296" y="2898648"/>
            <a:ext cx="402336" cy="402336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226296" y="2898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38360" y="2880360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44584" y="333756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RL · HIT / STAND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224528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40080" y="4224528"/>
            <a:ext cx="109728" cy="1783080"/>
          </a:xfrm>
          <a:prstGeom prst="roundRect">
            <a:avLst>
              <a:gd name="adj" fmla="val 41667"/>
            </a:avLst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932688" y="44074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Ambiente RL standard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2688" y="488289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 di osservazione e azione conformi a Gymnasium, con logica di gioco completa (soft/hard, blackjack naturale, regole del dealer).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43400" y="4224528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4343400" y="4224528"/>
            <a:ext cx="109728" cy="1783080"/>
          </a:xfrm>
          <a:prstGeom prst="roundRect">
            <a:avLst>
              <a:gd name="adj" fmla="val 41667"/>
            </a:avLst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636008" y="44074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Percezione visiva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636008" y="488289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Riconoscere le carte da una foto/webcam del tavolo reale e tradurle nello stato di gioco, in tempo reale.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46720" y="4224528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8046720" y="4224528"/>
            <a:ext cx="109728" cy="1783080"/>
          </a:xfrm>
          <a:prstGeom prst="roundRect">
            <a:avLst>
              <a:gd name="adj" fmla="val 41667"/>
            </a:avLst>
          </a:prstGeom>
          <a:solidFill>
            <a:srgbClr val="E0A93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339328" y="44074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 decisionale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39328" y="488289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Q-Learning addestrato che fornisce il suggerimento strategico HIT / STAND al giocatore.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" y="6510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Gymnasium Environment  ·  Computer Vision + Reinforcement Learning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698480" y="651052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B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ARCHITETTURA DEL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Due processi disaccoppiati, uno stato condiviso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846320" cy="3063240"/>
          </a:xfrm>
          <a:prstGeom prst="roundRect">
            <a:avLst>
              <a:gd name="adj" fmla="val 2985"/>
            </a:avLst>
          </a:prstGeom>
          <a:solidFill>
            <a:srgbClr val="0F2C46"/>
          </a:solidFill>
          <a:ln w="12700">
            <a:solidFill>
              <a:srgbClr val="46A6E0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59536" y="18379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6A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 VISIONE  ·  VISION_BLACKJACK.PY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2322576"/>
            <a:ext cx="146304" cy="146304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143000" y="2258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/ foto del tavolo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889504"/>
            <a:ext cx="146304" cy="146304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143000" y="28254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immagini (OpenCV)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456432"/>
            <a:ext cx="146304" cy="146304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143000" y="33924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Classificatore KNN — 54 classi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023360"/>
            <a:ext cx="146304" cy="146304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143000" y="3959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carte → emoji (10♥, K♠, “??”)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02552" y="1691640"/>
            <a:ext cx="4846320" cy="3063240"/>
          </a:xfrm>
          <a:prstGeom prst="roundRect">
            <a:avLst>
              <a:gd name="adj" fmla="val 2985"/>
            </a:avLst>
          </a:prstGeom>
          <a:solidFill>
            <a:srgbClr val="0F2C46"/>
          </a:solidFill>
          <a:ln w="12700">
            <a:solidFill>
              <a:srgbClr val="2BC48A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922008" y="18379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 GIOCO  ·  RUN_GAME.PY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31152" y="2322576"/>
            <a:ext cx="146304" cy="146304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205472" y="2258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VisionGameMiddleware (ponte)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31152" y="2889504"/>
            <a:ext cx="146304" cy="146304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205472" y="28254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BlackjackEnv — logica Gymnasium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31152" y="3456432"/>
            <a:ext cx="146304" cy="146304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205472" y="33924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RL — suggerimento HIT/STAND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31152" y="4023360"/>
            <a:ext cx="146304" cy="146304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205472" y="3959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pygame + HUD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02998" y="2720340"/>
            <a:ext cx="5570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--&gt;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527548" y="3186684"/>
            <a:ext cx="1133856" cy="713232"/>
          </a:xfrm>
          <a:prstGeom prst="roundRect">
            <a:avLst>
              <a:gd name="adj" fmla="val 10256"/>
            </a:avLst>
          </a:prstGeom>
          <a:solidFill>
            <a:srgbClr val="143A59"/>
          </a:solidFill>
          <a:ln w="15240">
            <a:solidFill>
              <a:srgbClr val="2BC48A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527548" y="3259836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27548" y="357073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864608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vision_state.json</a:t>
            </a:r>
            <a:r>
              <a:rPr lang="en-US" sz="12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scrittura </a:t>
            </a:r>
            <a:r>
              <a:rPr lang="en-US" sz="1200" dirty="0" err="1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atomica</a:t>
            </a:r>
            <a:r>
              <a:rPr lang="en-US" sz="12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lato visione, lettura in polling lato gioco: i due processi restano indipendenti.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285232"/>
            <a:ext cx="1719072" cy="914400"/>
          </a:xfrm>
          <a:prstGeom prst="roundRect">
            <a:avLst>
              <a:gd name="adj" fmla="val 10000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85800" y="54406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game.py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7790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&amp; mazzo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481682" y="5285232"/>
            <a:ext cx="1719072" cy="914400"/>
          </a:xfrm>
          <a:prstGeom prst="roundRect">
            <a:avLst>
              <a:gd name="adj" fmla="val 10000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2527402" y="54406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env.py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527402" y="57790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Gym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23283" y="5285232"/>
            <a:ext cx="1719072" cy="914400"/>
          </a:xfrm>
          <a:prstGeom prst="roundRect">
            <a:avLst>
              <a:gd name="adj" fmla="val 10000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369003" y="54406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vision.py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369003" y="57790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64885" y="5285232"/>
            <a:ext cx="1719072" cy="914400"/>
          </a:xfrm>
          <a:prstGeom prst="roundRect">
            <a:avLst>
              <a:gd name="adj" fmla="val 10000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210605" y="54406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card_preprocessing.py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10605" y="57790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CV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06486" y="5285232"/>
            <a:ext cx="1719072" cy="914400"/>
          </a:xfrm>
          <a:prstGeom prst="roundRect">
            <a:avLst>
              <a:gd name="adj" fmla="val 10000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8052206" y="54406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BJRL.py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52206" y="57790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848088" y="5285232"/>
            <a:ext cx="1719072" cy="914400"/>
          </a:xfrm>
          <a:prstGeom prst="roundRect">
            <a:avLst>
              <a:gd name="adj" fmla="val 10000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9893808" y="54406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rendering.py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893808" y="57790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 pygame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0080" y="6510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Gymnasium Environment  ·  Computer Vision + Reinforcement Learning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698480" y="651052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B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GYMNASIUM ENVIRONMENT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Interfaccia RL standard: reset() → step(action)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0" cy="1874520"/>
          </a:xfrm>
          <a:prstGeom prst="roundRect">
            <a:avLst>
              <a:gd name="adj" fmla="val 4878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59536" y="183794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SPAZIO DI OSSERVAZIONE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59536" y="2121408"/>
            <a:ext cx="4590288" cy="475488"/>
          </a:xfrm>
          <a:prstGeom prst="roundRect">
            <a:avLst>
              <a:gd name="adj" fmla="val 11538"/>
            </a:avLst>
          </a:prstGeom>
          <a:solidFill>
            <a:srgbClr val="06192B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59536" y="2121408"/>
            <a:ext cx="4590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player_sum, dealer_upcard, usable_ace 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59536" y="274320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59536" y="27980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– 31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3145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 player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14016" y="274320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414016" y="27980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– 11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14016" y="3145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upcard dealer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68496" y="274320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968496" y="27980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/ 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68496" y="3145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 usabile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730752"/>
            <a:ext cx="5029200" cy="1417320"/>
          </a:xfrm>
          <a:prstGeom prst="roundRect">
            <a:avLst>
              <a:gd name="adj" fmla="val 6452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59536" y="387705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SPAZIO DELLE AZIONI  ·  DISCRETE(2)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59536" y="4160520"/>
            <a:ext cx="2148840" cy="804672"/>
          </a:xfrm>
          <a:prstGeom prst="roundRect">
            <a:avLst>
              <a:gd name="adj" fmla="val 11364"/>
            </a:avLst>
          </a:prstGeom>
          <a:solidFill>
            <a:srgbClr val="143A59"/>
          </a:solidFill>
          <a:ln w="17780">
            <a:solidFill>
              <a:srgbClr val="D260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1042416" y="4407408"/>
            <a:ext cx="310896" cy="310896"/>
          </a:xfrm>
          <a:prstGeom prst="ellipse">
            <a:avLst/>
          </a:prstGeom>
          <a:solidFill>
            <a:srgbClr val="D260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042416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416052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3236976" y="4160520"/>
            <a:ext cx="2148840" cy="804672"/>
          </a:xfrm>
          <a:prstGeom prst="roundRect">
            <a:avLst>
              <a:gd name="adj" fmla="val 11364"/>
            </a:avLst>
          </a:prstGeom>
          <a:solidFill>
            <a:srgbClr val="143A59"/>
          </a:solidFill>
          <a:ln w="17780">
            <a:solidFill>
              <a:srgbClr val="2BC4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3419856" y="4407408"/>
            <a:ext cx="310896" cy="310896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3419856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03904" y="416052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5943600" y="1691640"/>
            <a:ext cx="5605272" cy="1874520"/>
          </a:xfrm>
          <a:prstGeom prst="roundRect">
            <a:avLst>
              <a:gd name="adj" fmla="val 4878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163056" y="1837944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0A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FUNZIONE DI REWARD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63056" y="2157984"/>
            <a:ext cx="5166360" cy="292608"/>
          </a:xfrm>
          <a:prstGeom prst="roundRect">
            <a:avLst>
              <a:gd name="adj" fmla="val 12500"/>
            </a:avLst>
          </a:prstGeom>
          <a:solidFill>
            <a:srgbClr val="143A59"/>
          </a:solidFill>
          <a:ln w="9525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345936" y="21579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naturale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784080" y="21579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63056" y="2487168"/>
            <a:ext cx="5166360" cy="292608"/>
          </a:xfrm>
          <a:prstGeom prst="roundRect">
            <a:avLst>
              <a:gd name="adj" fmla="val 12500"/>
            </a:avLst>
          </a:prstGeom>
          <a:solidFill>
            <a:srgbClr val="0F2C46"/>
          </a:solidFill>
          <a:ln w="9525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6345936" y="24871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Vittoria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784080" y="2487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63056" y="2816352"/>
            <a:ext cx="5166360" cy="292608"/>
          </a:xfrm>
          <a:prstGeom prst="roundRect">
            <a:avLst>
              <a:gd name="adj" fmla="val 12500"/>
            </a:avLst>
          </a:prstGeom>
          <a:solidFill>
            <a:srgbClr val="143A59"/>
          </a:solidFill>
          <a:ln w="9525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345936" y="28163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Pareggio (push)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784080" y="2816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63056" y="3145536"/>
            <a:ext cx="5166360" cy="292608"/>
          </a:xfrm>
          <a:prstGeom prst="roundRect">
            <a:avLst>
              <a:gd name="adj" fmla="val 12500"/>
            </a:avLst>
          </a:prstGeom>
          <a:solidFill>
            <a:srgbClr val="0F2C46"/>
          </a:solidFill>
          <a:ln w="9525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6345936" y="31455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Sconfitta / Bust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784080" y="31455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6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−1.0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43600" y="3730752"/>
            <a:ext cx="5605272" cy="1417320"/>
          </a:xfrm>
          <a:prstGeom prst="roundRect">
            <a:avLst>
              <a:gd name="adj" fmla="val 6452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163056" y="387705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0A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REGOLE DI GIOCO IMPLEMENTATE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199632" y="41148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asso soft / hard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naturale con payout 3:2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sta a 17 (hit-soft-17 configurabile)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Reshuffle automatico dello shoe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0080" y="534924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06192B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640080" y="534924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A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obs, info = env.reset()</a:t>
            </a:r>
            <a:r>
              <a:rPr lang="en-US" sz="1400" b="1" dirty="0">
                <a:solidFill>
                  <a:srgbClr val="2452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•      </a:t>
            </a:r>
            <a:r>
              <a:rPr lang="en-US" sz="1400" b="1" dirty="0">
                <a:solidFill>
                  <a:srgbClr val="2B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obs, reward, terminated, truncated, info = env.step(action)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6510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Gymnasium Environment  ·  Computer Vision + Reinforcement Learning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698480" y="651052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B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  · 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Dal frame della webcam al vettore per il classificatore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673352" cy="1417320"/>
          </a:xfrm>
          <a:prstGeom prst="roundRect">
            <a:avLst>
              <a:gd name="adj" fmla="val 6452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257300" y="1737360"/>
            <a:ext cx="438912" cy="438912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257300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4944" y="2231136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Maschera bianca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4944" y="261518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 + morfologia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55825" y="20528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6A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90826" y="1572768"/>
            <a:ext cx="1673352" cy="1417320"/>
          </a:xfrm>
          <a:prstGeom prst="roundRect">
            <a:avLst>
              <a:gd name="adj" fmla="val 6452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108046" y="1737360"/>
            <a:ext cx="438912" cy="438912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108046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45690" y="2231136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Contorni &amp; box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45690" y="261518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carte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06570" y="20528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6A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41571" y="1572768"/>
            <a:ext cx="1673352" cy="1417320"/>
          </a:xfrm>
          <a:prstGeom prst="roundRect">
            <a:avLst>
              <a:gd name="adj" fmla="val 6452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958791" y="1737360"/>
            <a:ext cx="438912" cy="438912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958791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96435" y="2231136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 dealer/player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96435" y="261518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metà alta / bassa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57316" y="20528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92317" y="1572768"/>
            <a:ext cx="1673352" cy="1417320"/>
          </a:xfrm>
          <a:prstGeom prst="roundRect">
            <a:avLst>
              <a:gd name="adj" fmla="val 6452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6809537" y="1737360"/>
            <a:ext cx="438912" cy="438912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809537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47181" y="2231136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Warp prospettico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47181" y="261518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angoli (convex hull)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08062" y="20528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43062" y="1572768"/>
            <a:ext cx="1673352" cy="1417320"/>
          </a:xfrm>
          <a:prstGeom prst="roundRect">
            <a:avLst>
              <a:gd name="adj" fmla="val 6452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8660282" y="1737360"/>
            <a:ext cx="438912" cy="438912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8660282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97926" y="2231136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Binarizzazione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97926" y="261518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 di Otsu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658807" y="20528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893808" y="1572768"/>
            <a:ext cx="1673352" cy="1417320"/>
          </a:xfrm>
          <a:prstGeom prst="roundRect">
            <a:avLst>
              <a:gd name="adj" fmla="val 6452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10511028" y="1737360"/>
            <a:ext cx="438912" cy="438912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10511028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948672" y="2231136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Resize 160×114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948672" y="261518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vettore flatten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" y="3310128"/>
            <a:ext cx="4892040" cy="2788920"/>
          </a:xfrm>
          <a:prstGeom prst="roundRect">
            <a:avLst>
              <a:gd name="adj" fmla="val 3279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59536" y="34564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6A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CARATTERISTICHE CHIAVE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68680" y="3767328"/>
            <a:ext cx="4480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centralizzato e condiviso tra training, notebook e inference: coerenza totale dei dati.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detection deterministica: convex hull + punti più vicini ai bordi dell'immagine.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 prospettico che “raddrizza” la carta anche se inclinata o ruotata.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Normalizzazione binaria 160×114, robusta a luce e colore di sfondo.</a:t>
            </a:r>
            <a:endParaRPr lang="en-US" sz="1250" dirty="0"/>
          </a:p>
        </p:txBody>
      </p:sp>
      <p:pic>
        <p:nvPicPr>
          <p:cNvPr id="42" name="Image 0" descr="C:\Users\alanc\Desktop\ALAN\SCUOLA\ITS-AI\Blackjack\screenshot\vision_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383280"/>
            <a:ext cx="5440680" cy="3070881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897880" y="3383280"/>
            <a:ext cx="5440680" cy="3070881"/>
          </a:xfrm>
          <a:prstGeom prst="roundRect">
            <a:avLst>
              <a:gd name="adj" fmla="val 1191"/>
            </a:avLst>
          </a:prstGeom>
          <a:ln w="17780">
            <a:solidFill>
              <a:srgbClr val="46A6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1"/>
          <p:cNvSpPr/>
          <p:nvPr/>
        </p:nvSpPr>
        <p:spPr>
          <a:xfrm>
            <a:off x="5897880" y="6472449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Riconoscimento live: box per seme (rosso/nero), split DEALER / PLAYER, token “??” per le carte coperte.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640080" y="6510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Gymnasium Environment  ·  Computer Vision + Reinforcement Learning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698480" y="651052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B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MODELLO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Carte reali, data augmentation e classificatore KNN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70048" cy="1280160"/>
          </a:xfrm>
          <a:prstGeom prst="roundRect">
            <a:avLst>
              <a:gd name="adj" fmla="val 7143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1728216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86384" y="2342693"/>
            <a:ext cx="23774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 (52 carte + 2 retro)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92424" y="1600200"/>
            <a:ext cx="2670048" cy="1280160"/>
          </a:xfrm>
          <a:prstGeom prst="roundRect">
            <a:avLst>
              <a:gd name="adj" fmla="val 7143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392424" y="1728216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46A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16×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3538728" y="2342693"/>
            <a:ext cx="23774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varianti per immagine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44768" y="1600200"/>
            <a:ext cx="2670048" cy="1280160"/>
          </a:xfrm>
          <a:prstGeom prst="roundRect">
            <a:avLst>
              <a:gd name="adj" fmla="val 7143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144768" y="1728216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E0A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5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291072" y="2342693"/>
            <a:ext cx="23774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vicini (KNN)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97112" y="1600200"/>
            <a:ext cx="2670048" cy="1280160"/>
          </a:xfrm>
          <a:prstGeom prst="roundRect">
            <a:avLst>
              <a:gd name="adj" fmla="val 7143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897112" y="1728216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043416" y="2342693"/>
            <a:ext cx="23774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accuratezza · test 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90672"/>
            <a:ext cx="5532120" cy="2999232"/>
          </a:xfrm>
          <a:prstGeom prst="roundRect">
            <a:avLst>
              <a:gd name="adj" fmla="val 3049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59536" y="32369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6A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AUGMENTATION  ·  4 MODALITÀ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" y="3584448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987552" y="3749040"/>
            <a:ext cx="146304" cy="146304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225296" y="367588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Rotazione + shift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05840" y="40416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inclinazioni e traslazioni leggere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11296" y="3584448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3657600" y="3749040"/>
            <a:ext cx="146304" cy="146304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3895344" y="367588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Luminosità / contrasto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75888" y="40416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esposizioni e condizioni di luce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1248" y="4745736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987552" y="4910328"/>
            <a:ext cx="146304" cy="146304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225296" y="483717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Rumore gaussiano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05840" y="52029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robustezza al sensore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11296" y="4745736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3657600" y="4910328"/>
            <a:ext cx="146304" cy="146304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3895344" y="483717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Warp prospettico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675888" y="52029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inquadrature angolate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46520" y="3090672"/>
            <a:ext cx="5102352" cy="2999232"/>
          </a:xfrm>
          <a:prstGeom prst="roundRect">
            <a:avLst>
              <a:gd name="adj" fmla="val 3049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6665976" y="3236976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DAL PIXEL ALLA CLASSE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675120" y="35661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95160" y="35661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carta (BGR)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675120" y="40233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95160" y="40233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binario 160×114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675120" y="44805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95160" y="44805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Vettore flatten normalizzato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675120" y="49377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95160" y="49377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(scikit-learn) → label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675120" y="5440680"/>
            <a:ext cx="4617720" cy="530352"/>
          </a:xfrm>
          <a:prstGeom prst="roundRect">
            <a:avLst>
              <a:gd name="adj" fmla="val 13793"/>
            </a:avLst>
          </a:prstGeom>
          <a:solidFill>
            <a:srgbClr val="06192B"/>
          </a:solidFill>
          <a:ln w="12700">
            <a:solidFill>
              <a:srgbClr val="E0A93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6812280" y="544068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coperte  </a:t>
            </a:r>
            <a:r>
              <a:rPr lang="en-US" sz="1150" dirty="0">
                <a:solidFill>
                  <a:srgbClr val="E0A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carta_blu / carta_rosso → token “??”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0012680" y="3218688"/>
            <a:ext cx="676656" cy="950976"/>
          </a:xfrm>
          <a:prstGeom prst="roundRect">
            <a:avLst>
              <a:gd name="adj" fmla="val 10811"/>
            </a:avLst>
          </a:prstGeom>
          <a:solidFill>
            <a:srgbClr val="F6F8FB"/>
          </a:solidFill>
          <a:ln w="12700">
            <a:solidFill>
              <a:srgbClr val="C7D2DD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10085832" y="3273552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012680" y="3523000"/>
            <a:ext cx="67665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♠</a:t>
            </a:r>
            <a:endParaRPr lang="en-US" sz="2600" dirty="0"/>
          </a:p>
        </p:txBody>
      </p:sp>
      <p:sp>
        <p:nvSpPr>
          <p:cNvPr id="49" name="Shape 47"/>
          <p:cNvSpPr/>
          <p:nvPr/>
        </p:nvSpPr>
        <p:spPr>
          <a:xfrm>
            <a:off x="10716768" y="3218688"/>
            <a:ext cx="676656" cy="950976"/>
          </a:xfrm>
          <a:prstGeom prst="roundRect">
            <a:avLst>
              <a:gd name="adj" fmla="val 10811"/>
            </a:avLst>
          </a:prstGeom>
          <a:solidFill>
            <a:srgbClr val="F6F8FB"/>
          </a:solidFill>
          <a:ln w="12700">
            <a:solidFill>
              <a:srgbClr val="C7D2DD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10789920" y="3273552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716768" y="3523000"/>
            <a:ext cx="67665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♥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640080" y="6510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Gymnasium Environment  ·  Computer Vision + Reinforcement Learning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698480" y="651052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B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 Q-Learning come suggeritore di strategia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897880" cy="1828800"/>
          </a:xfrm>
          <a:prstGeom prst="roundRect">
            <a:avLst>
              <a:gd name="adj" fmla="val 5000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59536" y="1837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APPRENDE L'AGENTE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121408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tabellare: una Q-table mappa ogni stato alle 2 azioni.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Esplorazione ε-greedy con decadimento (ε: 1.0 → 0.05).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Addestramento su 200.000 episodi simulati nell'ambiente.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639312"/>
            <a:ext cx="5897880" cy="1280160"/>
          </a:xfrm>
          <a:prstGeom prst="roundRect">
            <a:avLst>
              <a:gd name="adj" fmla="val 7143"/>
            </a:avLst>
          </a:prstGeom>
          <a:solidFill>
            <a:srgbClr val="06192B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59536" y="3785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6A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REGOLA DI AGGIORNAMENTO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Q[s,a] ← Q[s,a] + α · ( r + γ·max Q[s',·] − Q[s,a] 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462272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7B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0.01   (learning rate)        γ = 0.99   (discount)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5047488"/>
            <a:ext cx="5897880" cy="960120"/>
          </a:xfrm>
          <a:prstGeom prst="roundRect">
            <a:avLst>
              <a:gd name="adj" fmla="val 9524"/>
            </a:avLst>
          </a:prstGeom>
          <a:solidFill>
            <a:srgbClr val="10322A"/>
          </a:solidFill>
          <a:ln w="15240">
            <a:solidFill>
              <a:srgbClr val="2BC4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68680" y="5138928"/>
            <a:ext cx="5468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2B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 da suggeritore.  </a:t>
            </a:r>
            <a:r>
              <a:rPr lang="en-US" sz="12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L'agente non gioca al posto dell'utente: calcola la mossa migliore e la mostra come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“SUGGERIMENTO AI”</a:t>
            </a:r>
            <a:r>
              <a:rPr lang="en-US" sz="12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(HIT/STAND), senza alterare lo stato del gioco.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1691640"/>
            <a:ext cx="4828032" cy="4315968"/>
          </a:xfrm>
          <a:prstGeom prst="roundRect">
            <a:avLst>
              <a:gd name="adj" fmla="val 2119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940296" y="1837944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0A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ESITI SU 100.000 PARTITE (POLICY GREEDY)</a:t>
            </a:r>
            <a:endParaRPr lang="en-US" sz="12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858000" y="2148840"/>
          <a:ext cx="45720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6903720" y="5138928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6903720" y="51937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43.6%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903720" y="55595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144000" y="5138928"/>
            <a:ext cx="2057400" cy="713232"/>
          </a:xfrm>
          <a:prstGeom prst="roundRect">
            <a:avLst>
              <a:gd name="adj" fmla="val 10256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9144000" y="51937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6A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380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144000" y="55595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 appresi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6510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Gymnasium Environment  ·  Computer Vision + Reinforcement Learning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98480" y="651052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B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INTEGRAZIONE REALTIME &amp; INTERFACCIA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Visione e gioco comunicano in tempo reale</a:t>
            </a:r>
            <a:endParaRPr lang="en-US" sz="2900" dirty="0"/>
          </a:p>
        </p:txBody>
      </p:sp>
      <p:pic>
        <p:nvPicPr>
          <p:cNvPr id="4" name="Image 0" descr="C:\Users\alanc\Desktop\ALAN\SCUOLA\ITS-AI\Blackjack\screenshot\game_sim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7086600" cy="283226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7086600" cy="2832261"/>
          </a:xfrm>
          <a:prstGeom prst="roundRect">
            <a:avLst>
              <a:gd name="adj" fmla="val 1291"/>
            </a:avLst>
          </a:prstGeom>
          <a:ln w="17780">
            <a:solidFill>
              <a:srgbClr val="2BC4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548640" y="4551333"/>
            <a:ext cx="7086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sinistra il gioco (pygame, HUD e suggerimento AI), a destra la finestra di visione con i box di riconoscimento.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074920"/>
            <a:ext cx="1280160" cy="868680"/>
          </a:xfrm>
          <a:prstGeom prst="roundRect">
            <a:avLst>
              <a:gd name="adj" fmla="val 9474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585216" y="507492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768221" y="52806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000250" y="5074920"/>
            <a:ext cx="1280160" cy="868680"/>
          </a:xfrm>
          <a:prstGeom prst="roundRect">
            <a:avLst>
              <a:gd name="adj" fmla="val 9474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2036826" y="507492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 (CV)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219831" y="52806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451860" y="5074920"/>
            <a:ext cx="1280160" cy="868680"/>
          </a:xfrm>
          <a:prstGeom prst="roundRect">
            <a:avLst>
              <a:gd name="adj" fmla="val 9474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3488436" y="507492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vision_state.json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671441" y="52806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903470" y="5074920"/>
            <a:ext cx="1280160" cy="868680"/>
          </a:xfrm>
          <a:prstGeom prst="roundRect">
            <a:avLst>
              <a:gd name="adj" fmla="val 9474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4940046" y="507492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123051" y="52806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355080" y="5074920"/>
            <a:ext cx="1280160" cy="868680"/>
          </a:xfrm>
          <a:prstGeom prst="roundRect">
            <a:avLst>
              <a:gd name="adj" fmla="val 9474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6391656" y="507492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+ HUD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909560" y="1691640"/>
            <a:ext cx="3639312" cy="2514600"/>
          </a:xfrm>
          <a:prstGeom prst="roundRect">
            <a:avLst>
              <a:gd name="adj" fmla="val 3636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8129016" y="183794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FUNZIONA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138160" y="2121408"/>
            <a:ext cx="31821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Scrittura atomica dello stato (os.replace).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robusto: mtime + signature dei dati.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middleware aggiorna le mani e ridisegna.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live: somma, upcard, esito, suggerimento.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coperte gestite col token “??”.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09560" y="4315968"/>
            <a:ext cx="3639312" cy="1691640"/>
          </a:xfrm>
          <a:prstGeom prst="roundRect">
            <a:avLst>
              <a:gd name="adj" fmla="val 5405"/>
            </a:avLst>
          </a:prstGeom>
          <a:solidFill>
            <a:srgbClr val="0F2C46"/>
          </a:solidFill>
          <a:ln w="12700">
            <a:solidFill>
              <a:srgbClr val="245277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8129016" y="446227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6A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MODALITÀ OPERATIVE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138160" y="4754880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143A59"/>
          </a:solidFill>
          <a:ln w="16510">
            <a:solidFill>
              <a:srgbClr val="97B2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8138160" y="47548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Manuale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9802368" y="4754880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143A59"/>
          </a:solidFill>
          <a:ln w="16510">
            <a:solidFill>
              <a:srgbClr val="46A6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9802368" y="47548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138160" y="5321808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143A59"/>
          </a:solidFill>
          <a:ln w="16510">
            <a:solidFill>
              <a:srgbClr val="2BC4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8138160" y="53218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9802368" y="5321808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143A59"/>
          </a:solidFill>
          <a:ln w="16510">
            <a:solidFill>
              <a:srgbClr val="E0A93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9802368" y="532180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909560" y="6071616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 con start.bat — i due processi partono in parallelo.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40080" y="6510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Gymnasium Environment  ·  Computer Vision + Reinforcement Learning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98480" y="651052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B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5943600" cy="5486400"/>
          </a:xfrm>
          <a:prstGeom prst="ellipse">
            <a:avLst/>
          </a:prstGeom>
          <a:solidFill>
            <a:srgbClr val="0C7A4F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9601200" y="-1645920"/>
            <a:ext cx="5029200" cy="5029200"/>
          </a:xfrm>
          <a:prstGeom prst="ellipse">
            <a:avLst/>
          </a:prstGeom>
          <a:solidFill>
            <a:srgbClr val="2BC48A">
              <a:alpha val="1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8412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Simulazione di gioco in tempo reale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438248" y="1600200"/>
            <a:ext cx="7315200" cy="4114749"/>
          </a:xfrm>
          <a:prstGeom prst="roundRect">
            <a:avLst>
              <a:gd name="adj" fmla="val 2667"/>
            </a:avLst>
          </a:prstGeom>
          <a:solidFill>
            <a:srgbClr val="143A59"/>
          </a:solidFill>
          <a:ln w="20320">
            <a:solidFill>
              <a:srgbClr val="2BC48A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615788" y="2994634"/>
            <a:ext cx="960120" cy="960120"/>
          </a:xfrm>
          <a:prstGeom prst="ellipse">
            <a:avLst/>
          </a:prstGeom>
          <a:solidFill>
            <a:srgbClr val="2BC48A"/>
          </a:solidFill>
          <a:ln/>
          <a:effectLst>
            <a:outerShdw blurRad="228600" dist="50800" dir="16200000" algn="bl" rotWithShape="0">
              <a:srgbClr val="2BC48A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670652" y="299463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6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38248" y="5148021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 riservato al video  —  collega la clip di simulazione in PowerPoint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12368" y="5970981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0F2C46"/>
          </a:solidFill>
          <a:ln w="16510">
            <a:solidFill>
              <a:srgbClr val="46A6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1368400" y="6163005"/>
            <a:ext cx="182880" cy="182880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661008" y="5970981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Riconoscimento carte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41368" y="5970981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0F2C46"/>
          </a:solidFill>
          <a:ln w="16510">
            <a:solidFill>
              <a:srgbClr val="2BC4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797400" y="6163005"/>
            <a:ext cx="182880" cy="182880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090008" y="5970981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Aggiornamento stato live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70368" y="5970981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0F2C46"/>
          </a:solidFill>
          <a:ln w="16510">
            <a:solidFill>
              <a:srgbClr val="E0A93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8226400" y="6163005"/>
            <a:ext cx="182880" cy="182880"/>
          </a:xfrm>
          <a:prstGeom prst="ellipse">
            <a:avLst/>
          </a:prstGeom>
          <a:solidFill>
            <a:srgbClr val="E0A93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519008" y="5970981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Suggerimento 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0" y="651052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B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CONCLUSIONI &amp; SVILUPPI FUTURI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ponte tra percezione visiva e decisione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0F2C46"/>
          </a:solidFill>
          <a:ln w="12700">
            <a:solidFill>
              <a:srgbClr val="2BC48A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59536" y="1837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RISULTATI RAGGIUNTI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77824" y="2212848"/>
            <a:ext cx="310896" cy="310896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77824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98448" y="217627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Gymnasium completo e conforme allo standard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77824" y="2779776"/>
            <a:ext cx="310896" cy="310896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77824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98448" y="27432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di Computer Vision robusta (100% su test set)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" y="3346704"/>
            <a:ext cx="310896" cy="310896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77824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98448" y="33101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RL come suggeritore strategico HIT / STAND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" y="3913632"/>
            <a:ext cx="310896" cy="310896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77824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98448" y="387705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visione ↔ gioco in tempo reale via JSON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7824" y="4480560"/>
            <a:ext cx="310896" cy="310896"/>
          </a:xfrm>
          <a:prstGeom prst="ellipse">
            <a:avLst/>
          </a:prstGeom>
          <a:solidFill>
            <a:srgbClr val="2BC4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77824" y="4480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98448" y="444398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pygame con HUD e 4 modalità operative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1691640"/>
            <a:ext cx="5376672" cy="3429000"/>
          </a:xfrm>
          <a:prstGeom prst="roundRect">
            <a:avLst>
              <a:gd name="adj" fmla="val 2667"/>
            </a:avLst>
          </a:prstGeom>
          <a:solidFill>
            <a:srgbClr val="0F2C46"/>
          </a:solidFill>
          <a:ln w="12700">
            <a:solidFill>
              <a:srgbClr val="46A6E0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391656" y="1837944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6A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SVILUPPI FUTURI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9944" y="2212848"/>
            <a:ext cx="310896" cy="310896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409944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30568" y="21762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al posto del KNN: robustezza a luce e occlusioni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9944" y="2779776"/>
            <a:ext cx="310896" cy="310896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409944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30568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(DQN) verso la strategia ottimale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9944" y="3346704"/>
            <a:ext cx="310896" cy="310896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409944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30568" y="3310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avanzate: split, double, insurance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9944" y="3913632"/>
            <a:ext cx="310896" cy="310896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6409944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30568" y="387705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Multi-mazzo e tecniche di card counting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9944" y="4480560"/>
            <a:ext cx="310896" cy="310896"/>
          </a:xfrm>
          <a:prstGeom prst="ellipse">
            <a:avLst/>
          </a:prstGeom>
          <a:solidFill>
            <a:srgbClr val="46A6E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409944" y="4480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30568" y="444398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 automatica end-to-end (visione → mossa)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" y="52852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2BC4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TECNOLOGICO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5650992"/>
            <a:ext cx="1627632" cy="530352"/>
          </a:xfrm>
          <a:prstGeom prst="roundRect">
            <a:avLst>
              <a:gd name="adj" fmla="val 50000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40080" y="5650992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490826" y="5650992"/>
            <a:ext cx="1627632" cy="530352"/>
          </a:xfrm>
          <a:prstGeom prst="roundRect">
            <a:avLst>
              <a:gd name="adj" fmla="val 50000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2490826" y="5650992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341571" y="5650992"/>
            <a:ext cx="1627632" cy="530352"/>
          </a:xfrm>
          <a:prstGeom prst="roundRect">
            <a:avLst>
              <a:gd name="adj" fmla="val 50000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4341571" y="5650992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92317" y="5650992"/>
            <a:ext cx="1627632" cy="530352"/>
          </a:xfrm>
          <a:prstGeom prst="roundRect">
            <a:avLst>
              <a:gd name="adj" fmla="val 50000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6192317" y="5650992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043062" y="5650992"/>
            <a:ext cx="1627632" cy="530352"/>
          </a:xfrm>
          <a:prstGeom prst="roundRect">
            <a:avLst>
              <a:gd name="adj" fmla="val 50000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8043062" y="5650992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893808" y="5650992"/>
            <a:ext cx="1627632" cy="530352"/>
          </a:xfrm>
          <a:prstGeom prst="roundRect">
            <a:avLst>
              <a:gd name="adj" fmla="val 50000"/>
            </a:avLst>
          </a:prstGeom>
          <a:solidFill>
            <a:srgbClr val="143A59"/>
          </a:solidFill>
          <a:ln w="12700">
            <a:solidFill>
              <a:srgbClr val="2452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9893808" y="5650992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0080" y="6510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Blackjack Gymnasium Environment  ·  Computer Vision + Reinforcement Learning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698480" y="651052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B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1208</Words>
  <Application>Microsoft Office PowerPoint</Application>
  <PresentationFormat>Widescreen</PresentationFormat>
  <Paragraphs>268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Blackjack Gymnasium Environment — CV + RL</dc:title>
  <dc:subject>PptxGenJS Presentation</dc:subject>
  <dc:creator>ITS-AI</dc:creator>
  <cp:lastModifiedBy>Alan Cadorin</cp:lastModifiedBy>
  <cp:revision>2</cp:revision>
  <dcterms:created xsi:type="dcterms:W3CDTF">2026-06-01T18:36:55Z</dcterms:created>
  <dcterms:modified xsi:type="dcterms:W3CDTF">2026-06-01T18:51:46Z</dcterms:modified>
</cp:coreProperties>
</file>